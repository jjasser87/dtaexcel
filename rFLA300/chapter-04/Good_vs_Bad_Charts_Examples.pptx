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520000" y="220000"/>
            <a:ext cx="105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200">
                <a:b/>
                <a:solidFill>
                  <a:srgbClr val="FFFFFF"/>
                </a:solidFill>
              </a:rPr>
              <a:t>Good vs. Bad Charts in Excel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20000" y="1500000"/>
            <a:ext cx="100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F1F1F"/>
                </a:solidFill>
              </a:rPr>
              <a:t>Use these examples to notice how design choices can either clarify or hide the message in the data.</a:t>
            </a:r>
          </a:p>
        </p:txBody>
      </p:sp>
      <p:sp>
        <p:nvSpPr>
          <p:cNvPr id="5" name="Instruction"/>
          <p:cNvSpPr txBox="1"/>
          <p:nvPr/>
        </p:nvSpPr>
        <p:spPr>
          <a:xfrm>
            <a:off x="720000" y="2800000"/>
            <a:ext cx="9800000" cy="10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404040"/>
                </a:solidFill>
              </a:rPr>
              <a:t>As you review each slide, ask: What is the chart trying to say? What distracts from the message? What would I change first?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520000" y="210000"/>
            <a:ext cx="10800000" cy="4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>
                <a:b/>
                <a:solidFill>
                  <a:srgbClr val="FFFFFF"/>
                </a:solidFill>
              </a:rPr>
              <a:t>Bad Example: Too Much Decoration</a:t>
            </a:r>
          </a:p>
        </p:txBody>
      </p:sp>
      <p:sp>
        <p:nvSpPr>
          <p:cNvPr id="10" name="Bar 0"/>
          <p:cNvSpPr/>
          <p:nvPr/>
        </p:nvSpPr>
        <p:spPr>
          <a:xfrm>
            <a:off x="700000" y="2987867"/>
            <a:ext cx="420000" cy="1712133"/>
          </a:xfrm>
          <a:prstGeom prst="rect">
            <a:avLst/>
          </a:prstGeom>
          <a:solidFill>
            <a:srgbClr val="FF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ar 1"/>
          <p:cNvSpPr/>
          <p:nvPr/>
        </p:nvSpPr>
        <p:spPr>
          <a:xfrm>
            <a:off x="1460000" y="2787657"/>
            <a:ext cx="420000" cy="1912343"/>
          </a:xfrm>
          <a:prstGeom prst="rect">
            <a:avLst/>
          </a:prstGeom>
          <a:solidFill>
            <a:srgbClr val="00B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Bar 2"/>
          <p:cNvSpPr/>
          <p:nvPr/>
        </p:nvSpPr>
        <p:spPr>
          <a:xfrm>
            <a:off x="2220000" y="2891214"/>
            <a:ext cx="420000" cy="1808786"/>
          </a:xfrm>
          <a:prstGeom prst="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ar 3"/>
          <p:cNvSpPr/>
          <p:nvPr/>
        </p:nvSpPr>
        <p:spPr>
          <a:xfrm>
            <a:off x="2980000" y="2632323"/>
            <a:ext cx="420000" cy="2067677"/>
          </a:xfrm>
          <a:prstGeom prst="rect">
            <a:avLst/>
          </a:prstGeom>
          <a:solidFill>
            <a:srgbClr val="FFFF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Bar 4"/>
          <p:cNvSpPr/>
          <p:nvPr/>
        </p:nvSpPr>
        <p:spPr>
          <a:xfrm>
            <a:off x="3740000" y="2463180"/>
            <a:ext cx="420000" cy="2236820"/>
          </a:xfrm>
          <a:prstGeom prst="rect">
            <a:avLst/>
          </a:prstGeom>
          <a:solidFill>
            <a:srgbClr val="7030A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ar 5"/>
          <p:cNvSpPr/>
          <p:nvPr/>
        </p:nvSpPr>
        <p:spPr>
          <a:xfrm>
            <a:off x="4500000" y="2235356"/>
            <a:ext cx="420000" cy="2464644"/>
          </a:xfrm>
          <a:prstGeom prst="rect">
            <a:avLst/>
          </a:prstGeom>
          <a:solidFill>
            <a:srgbClr val="FFC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Bar 6"/>
          <p:cNvSpPr/>
          <p:nvPr/>
        </p:nvSpPr>
        <p:spPr>
          <a:xfrm>
            <a:off x="5260000" y="2338913"/>
            <a:ext cx="420000" cy="2361087"/>
          </a:xfrm>
          <a:prstGeom prst="rect">
            <a:avLst/>
          </a:prstGeom>
          <a:solidFill>
            <a:srgbClr val="00B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ar 7"/>
          <p:cNvSpPr/>
          <p:nvPr/>
        </p:nvSpPr>
        <p:spPr>
          <a:xfrm>
            <a:off x="6020000" y="2155963"/>
            <a:ext cx="420000" cy="2544037"/>
          </a:xfrm>
          <a:prstGeom prst="rect">
            <a:avLst/>
          </a:prstGeom>
          <a:solidFill>
            <a:srgbClr val="92D0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Bar 8"/>
          <p:cNvSpPr/>
          <p:nvPr/>
        </p:nvSpPr>
        <p:spPr>
          <a:xfrm>
            <a:off x="6780000" y="2055858"/>
            <a:ext cx="420000" cy="2644142"/>
          </a:xfrm>
          <a:prstGeom prst="rect">
            <a:avLst/>
          </a:prstGeom>
          <a:solidFill>
            <a:srgbClr val="FF66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Bar 9"/>
          <p:cNvSpPr/>
          <p:nvPr/>
        </p:nvSpPr>
        <p:spPr>
          <a:xfrm>
            <a:off x="7540000" y="1841842"/>
            <a:ext cx="420000" cy="2858158"/>
          </a:xfrm>
          <a:prstGeom prst="rect">
            <a:avLst/>
          </a:prstGeom>
          <a:solidFill>
            <a:srgbClr val="A6A6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Bar 10"/>
          <p:cNvSpPr/>
          <p:nvPr/>
        </p:nvSpPr>
        <p:spPr>
          <a:xfrm>
            <a:off x="8300000" y="1600210"/>
            <a:ext cx="420000" cy="3099790"/>
          </a:xfrm>
          <a:prstGeom prst="rect">
            <a:avLst/>
          </a:prstGeom>
          <a:solidFill>
            <a:srgbClr val="C55A1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Bar 11"/>
          <p:cNvSpPr/>
          <p:nvPr/>
        </p:nvSpPr>
        <p:spPr>
          <a:xfrm>
            <a:off x="9060000" y="1400000"/>
            <a:ext cx="420000" cy="3300000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Bad labels"/>
          <p:cNvSpPr txBox="1"/>
          <p:nvPr/>
        </p:nvSpPr>
        <p:spPr>
          <a:xfrm>
            <a:off x="700000" y="5050000"/>
            <a:ext cx="10000000" cy="5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>
                <a:solidFill>
                  <a:srgbClr val="C00000"/>
                </a:solidFill>
              </a:rPr>
              <a:t>Problems: random colors, weak title, unnecessary visual noise, hard-to-read labels, and no clear message.</a:t>
            </a:r>
          </a:p>
        </p:txBody>
      </p:sp>
      <p:sp>
        <p:nvSpPr>
          <p:cNvPr id="31" name="Yikes"/>
          <p:cNvSpPr txBox="1"/>
          <p:nvPr/>
        </p:nvSpPr>
        <p:spPr>
          <a:xfrm>
            <a:off x="7600000" y="1450000"/>
            <a:ext cx="2900000" cy="9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>
                <a:b/>
                <a:solidFill>
                  <a:srgbClr val="FF0000"/>
                </a:solidFill>
              </a:rPr>
              <a:t>SALES!!!</a:t>
            </a:r>
          </a:p>
        </p:txBody>
      </p:sp>
      <p:sp>
        <p:nvSpPr>
          <p:cNvPr id="32" name="Decoration"/>
          <p:cNvSpPr/>
          <p:nvPr/>
        </p:nvSpPr>
        <p:spPr>
          <a:xfrm>
            <a:off x="8500000" y="2600000"/>
            <a:ext cx="1700000" cy="170000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1F4E7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520000" y="210000"/>
            <a:ext cx="10800000" cy="4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>
                <a:b/>
                <a:solidFill>
                  <a:srgbClr val="FFFFFF"/>
                </a:solidFill>
              </a:rPr>
              <a:t>Good Example: Monthly Sales Increased Across the Year</a:t>
            </a:r>
          </a:p>
        </p:txBody>
      </p:sp>
      <p:sp>
        <p:nvSpPr>
          <p:cNvPr id="10" name="Bar 0"/>
          <p:cNvSpPr/>
          <p:nvPr/>
        </p:nvSpPr>
        <p:spPr>
          <a:xfrm>
            <a:off x="900000" y="2987867"/>
            <a:ext cx="440000" cy="1712133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ar 1"/>
          <p:cNvSpPr/>
          <p:nvPr/>
        </p:nvSpPr>
        <p:spPr>
          <a:xfrm>
            <a:off x="1620000" y="2787657"/>
            <a:ext cx="440000" cy="1912343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Bar 2"/>
          <p:cNvSpPr/>
          <p:nvPr/>
        </p:nvSpPr>
        <p:spPr>
          <a:xfrm>
            <a:off x="2340000" y="2891214"/>
            <a:ext cx="440000" cy="1808786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ar 3"/>
          <p:cNvSpPr/>
          <p:nvPr/>
        </p:nvSpPr>
        <p:spPr>
          <a:xfrm>
            <a:off x="3060000" y="2632323"/>
            <a:ext cx="440000" cy="2067677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Bar 4"/>
          <p:cNvSpPr/>
          <p:nvPr/>
        </p:nvSpPr>
        <p:spPr>
          <a:xfrm>
            <a:off x="3780000" y="2463180"/>
            <a:ext cx="440000" cy="2236820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ar 5"/>
          <p:cNvSpPr/>
          <p:nvPr/>
        </p:nvSpPr>
        <p:spPr>
          <a:xfrm>
            <a:off x="4500000" y="2235356"/>
            <a:ext cx="440000" cy="2464644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Bar 6"/>
          <p:cNvSpPr/>
          <p:nvPr/>
        </p:nvSpPr>
        <p:spPr>
          <a:xfrm>
            <a:off x="5220000" y="2338913"/>
            <a:ext cx="440000" cy="2361087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ar 7"/>
          <p:cNvSpPr/>
          <p:nvPr/>
        </p:nvSpPr>
        <p:spPr>
          <a:xfrm>
            <a:off x="5940000" y="2155963"/>
            <a:ext cx="440000" cy="2544037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Bar 8"/>
          <p:cNvSpPr/>
          <p:nvPr/>
        </p:nvSpPr>
        <p:spPr>
          <a:xfrm>
            <a:off x="6660000" y="2055858"/>
            <a:ext cx="440000" cy="2644142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Bar 9"/>
          <p:cNvSpPr/>
          <p:nvPr/>
        </p:nvSpPr>
        <p:spPr>
          <a:xfrm>
            <a:off x="7380000" y="1841842"/>
            <a:ext cx="440000" cy="2858158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Bar 10"/>
          <p:cNvSpPr/>
          <p:nvPr/>
        </p:nvSpPr>
        <p:spPr>
          <a:xfrm>
            <a:off x="8100000" y="1600210"/>
            <a:ext cx="440000" cy="3099790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Bar 11"/>
          <p:cNvSpPr/>
          <p:nvPr/>
        </p:nvSpPr>
        <p:spPr>
          <a:xfrm>
            <a:off x="8820000" y="1400000"/>
            <a:ext cx="440000" cy="3300000"/>
          </a:xfrm>
          <a:prstGeom prst="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0" name="Axis"/>
          <p:cNvSpPr/>
          <p:nvPr/>
        </p:nvSpPr>
        <p:spPr>
          <a:xfrm>
            <a:off x="750000" y="4700000"/>
            <a:ext cx="9300000" cy="25000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" name="Why works"/>
          <p:cNvSpPr txBox="1"/>
          <p:nvPr/>
        </p:nvSpPr>
        <p:spPr>
          <a:xfrm>
            <a:off x="720000" y="525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000">
                <a:solidFill>
                  <a:srgbClr val="404040"/>
                </a:solidFill>
              </a:rPr>
              <a:t>Why this works: clear title, one main color, readable spacing, and the design points attention toward the trend.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54823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520000" y="210000"/>
            <a:ext cx="10800000" cy="4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000">
                <a:b/>
                <a:solidFill>
                  <a:srgbClr val="FFFFFF"/>
                </a:solidFill>
              </a:rPr>
              <a:t>Chart Review Checklist</a:t>
            </a:r>
          </a:p>
        </p:txBody>
      </p:sp>
      <p:sp>
        <p:nvSpPr>
          <p:cNvPr id="4" name="Checklist"/>
          <p:cNvSpPr txBox="1"/>
          <p:nvPr/>
        </p:nvSpPr>
        <p:spPr>
          <a:xfrm>
            <a:off x="900000" y="1400000"/>
            <a:ext cx="9800000" cy="3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400">
                <a:solidFill>
                  <a:srgbClr val="1F1F1F"/>
                </a:solidFill>
              </a:rPr>
              <a:t>Before submitting your chart, check: clear title; correct chart type; readable labels; no 3-D distortion; colors used consistently; chart answers one main question.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